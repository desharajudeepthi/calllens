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9" Type="http://schemas.openxmlformats.org/officeDocument/2006/relationships/slide" Target="slides/slide13.xml"/>
  <Relationship Id="rId14" Type="http://schemas.openxmlformats.org/officeDocument/2006/relationships/notesMaster" Target="notesMasters/notesMaster1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heme" Target="theme/theme1.xml"/>
  <Relationship Id="rId18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_rels/notesSlide1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1.xml"/>
  
		
</Relationships>

</file>

<file path=ppt/notesSlides/_rels/notesSlide1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2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chart" Target="/ppt/charts/chart1.xml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chart" Target="/ppt/charts/chart2.xml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chart" Target="/ppt/charts/chart3.xml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822960"/>
            <a:ext cx="8778240" cy="0"/>
          </a:xfrm>
          <a:prstGeom prst="line">
            <a:avLst/>
          </a:prstGeom>
          <a:noFill/>
          <a:ln w="6350">
            <a:solidFill>
              <a:srgbClr val="1C33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645920"/>
            <a:ext cx="8778240" cy="0"/>
          </a:xfrm>
          <a:prstGeom prst="line">
            <a:avLst/>
          </a:prstGeom>
          <a:noFill/>
          <a:ln w="6350">
            <a:solidFill>
              <a:srgbClr val="1C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468880"/>
            <a:ext cx="8778240" cy="0"/>
          </a:xfrm>
          <a:prstGeom prst="line">
            <a:avLst/>
          </a:prstGeom>
          <a:noFill/>
          <a:ln w="6350">
            <a:solidFill>
              <a:srgbClr val="1C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291840"/>
            <a:ext cx="8778240" cy="0"/>
          </a:xfrm>
          <a:prstGeom prst="line">
            <a:avLst/>
          </a:prstGeom>
          <a:noFill/>
          <a:ln w="6350">
            <a:solidFill>
              <a:srgbClr val="1C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8778240" cy="0"/>
          </a:xfrm>
          <a:prstGeom prst="line">
            <a:avLst/>
          </a:prstGeom>
          <a:noFill/>
          <a:ln w="6350">
            <a:solidFill>
              <a:srgbClr val="1C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Meeting Data to Stakeholder Decisions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457200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Developer Take-Home  |  100 Meeting Transcripts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Meetings. Buried Insights.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40480" cy="352044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solidFill>
            <a:srgbClr val="2635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manual, slow, reactive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cross-meeting visibility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stakeholder re-reads transcripts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signals missed until too late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77640" cy="3520440"/>
          </a:xfrm>
          <a:prstGeom prst="rect">
            <a:avLst/>
          </a:prstGeom>
          <a:solidFill>
            <a:srgbClr val="1328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3977640" cy="365760"/>
          </a:xfrm>
          <a:prstGeom prst="rect">
            <a:avLst/>
          </a:prstGeom>
          <a:solidFill>
            <a:srgbClr val="00B4D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TRANSCRIPT INTELLIGENCE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+ scored automatically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trends surfaced in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accounts ranked with evidence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owners identified instantly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Working With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3 – Apr 28, 2026  |  Aegis Cloud — B2B SaaS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92024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192024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50.5h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192024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325880"/>
            <a:ext cx="192024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6294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speakers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5120640" cy="16002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Per-meeting pre-computed fields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017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list (~6/meeting)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(1–5) + label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moments: churn_signal, concern, technical_issue, positive_pivot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697480"/>
            <a:ext cx="3063240" cy="1600200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697480"/>
            <a:ext cx="73152" cy="1600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33872" y="30358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fields already exist — build on top, don't regenerate.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~$30 in API costs.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480560"/>
            <a:ext cx="3701491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80560"/>
            <a:ext cx="36100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44%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67251" y="4480560"/>
            <a:ext cx="2439619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2971" y="4480560"/>
            <a:ext cx="23481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29%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06870" y="4480560"/>
            <a:ext cx="227137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2590" y="4480560"/>
            <a:ext cx="21799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27%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737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424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Categorization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895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handle 91% free.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for the 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on every result.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737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424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Pre-Computed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444752"/>
            <a:ext cx="3895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summary.json already has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topics, key moments.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— don't re-run.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~$30 in API cost.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411480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712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Tool-Shaped Functions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273552"/>
            <a:ext cx="3895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insight: typed inputs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dict + meeting IDs.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MCP tool foundation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agentic system.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14800" cy="1737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411480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8712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73168" y="3273552"/>
            <a:ext cx="3895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LLM spend: under $1.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first, LLM only when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needed. Haiku for cost;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for nuance.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102030"/>
          </a:solidFill>
          <a:ln w="6350">
            <a:solidFill>
              <a:srgbClr val="8EA8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Meetings  →  Loader  →  Categorize  →  Sentiment  →  Churn + Actions + Topics  →  Charts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Categorization — Required Task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Rules (91%) + gpt-4o-mini (9%)  |  Zero meetings below 0.7 confidence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 1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8016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77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601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Sub-Theme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Meetings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</a:rPr>
                        <a:t>incident_response 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customer_support_issue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compliance_security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customer_onboarding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 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product_planning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 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customer_renewal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other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Required Task 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pre-computed sentiment scores (1–5 scale) across 100 meetings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 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1234440"/>
            <a:ext cx="4114800" cy="594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17720" y="1234440"/>
            <a:ext cx="73152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271016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calls most negative: avg 2.94 vs External 3.68 (gap: 0.74 pts)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911096"/>
            <a:ext cx="4114800" cy="594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11096"/>
            <a:ext cx="73152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947672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and engineering sync are lowest-scoring sub-themes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17720" y="2587752"/>
            <a:ext cx="4114800" cy="594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7720" y="2587752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624328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is FLAT Feb-Apr (slope +0.012/week, no alarming decline)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7720" y="3264408"/>
            <a:ext cx="4114800" cy="59436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3264408"/>
            <a:ext cx="73152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3300984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meetings correlate with higher sentiment (r = +0.36)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10203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023360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leaders: monitor weekly  |  Sales: external calls are positive — lean in at renewal  |  Eng leads: invest in postmortem culture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A: Churn Risk Scoring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at risk right now?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214884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churn_signal moments: 25 pts each (cap 50)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declining sentiment: up to 40 pts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 moments: 5 pts each (cap 20)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negative meeting: 5–15 pts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05840"/>
          <a:ext cx="4251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914400"/>
                <a:gridCol w="1508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Level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Accounts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70+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Exec outreach this week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703"/>
                          </a:solidFill>
                        </a:rPr>
                        <a:t>Alert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50–69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CS check-in within 7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166"/>
                          </a:solidFill>
                        </a:rPr>
                        <a:t>Watch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30–49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Monitor closely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</a:rPr>
                        <a:t>Healthy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&lt;30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 action needed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337560"/>
            <a:ext cx="8412480" cy="1188720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3337560"/>
            <a:ext cx="841248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AT-RISK ACCOUNTS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Pharma  [100 pts]          Summit Trust  [75 pts]          Vanta Health Systems  [75 pts]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At-Risk: Northstar Pharma  (Score: 100/100)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explainable. Every claim is evidence-backed.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 — EVIDENCE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Signals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243584"/>
            <a:ext cx="3200400" cy="320040"/>
          </a:xfrm>
          <a:prstGeom prst="rect">
            <a:avLst/>
          </a:prstGeom>
          <a:solidFill>
            <a:srgbClr val="1A2F45"/>
          </a:solidFill>
          <a:ln w="6350">
            <a:solidFill>
              <a:srgbClr val="1C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243584"/>
            <a:ext cx="320040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188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901952"/>
            <a:ext cx="3200400" cy="320040"/>
          </a:xfrm>
          <a:prstGeom prst="rect">
            <a:avLst/>
          </a:prstGeom>
          <a:solidFill>
            <a:srgbClr val="1A2F45"/>
          </a:solidFill>
          <a:ln w="6350">
            <a:solidFill>
              <a:srgbClr val="1C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901952"/>
            <a:ext cx="240030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8470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5054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560320"/>
            <a:ext cx="3200400" cy="320040"/>
          </a:xfrm>
          <a:prstGeom prst="rect">
            <a:avLst/>
          </a:prstGeom>
          <a:solidFill>
            <a:srgbClr val="1A2F45"/>
          </a:solidFill>
          <a:ln w="6350">
            <a:solidFill>
              <a:srgbClr val="1C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560320"/>
            <a:ext cx="3200400" cy="3200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5054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1638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Negativity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3218688"/>
            <a:ext cx="3200400" cy="320040"/>
          </a:xfrm>
          <a:prstGeom prst="rect">
            <a:avLst/>
          </a:prstGeom>
          <a:solidFill>
            <a:srgbClr val="1A2F45"/>
          </a:solidFill>
          <a:ln w="6350">
            <a:solidFill>
              <a:srgbClr val="1C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3218688"/>
            <a:ext cx="32004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1638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3840480"/>
            <a:ext cx="4114800" cy="0"/>
          </a:xfrm>
          <a:prstGeom prst="line">
            <a:avLst/>
          </a:prstGeom>
          <a:noFill/>
          <a:ln w="9525">
            <a:solidFill>
              <a:srgbClr val="8EA8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886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 (capped)  -&gt;  CRITICAL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1188720"/>
            <a:ext cx="2377440" cy="1170432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1188720"/>
            <a:ext cx="73152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234440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"churn_signal: Explicit customer dissatisfaction flagged in key moments"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514600"/>
            <a:ext cx="2377440" cy="1170432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2514600"/>
            <a:ext cx="73152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560320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"concern: Customer raised critical unresolved issue — support case still open"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20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074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Immediate executive outreach. High likelihood of churn.  |  Tool ranks, human decides.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B: Action Item Tracker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256032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72968" y="932688"/>
            <a:ext cx="256032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64408" y="10241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64408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0176" y="932688"/>
            <a:ext cx="2560320" cy="1143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1616" y="10241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71616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meeting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2743200" cy="2286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76272"/>
            <a:ext cx="274320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OVERLOADED?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265176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Santos: 31 items, 13 meetings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owners hold 35% of all 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single-point-of-failure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176272"/>
            <a:ext cx="2743200" cy="2286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176272"/>
            <a:ext cx="2743200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DOING?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65176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verb: "send" (71 occurrences)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is in communication mode post-meeting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"deliver", "prepare", "review" follow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176272"/>
            <a:ext cx="2743200" cy="2286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176272"/>
            <a:ext cx="2743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RECURRING?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265176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"team", "week", "update" in 40+ meetings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= unresolved systemic issue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 a project, not more action items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solidFill>
            <a:srgbClr val="10203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leads: IC workload visibility before burnout.  |  PM/CoS: recurring themes = candidates for systematic fixes, not more action items.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C: Recurring Topic Detector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topics appear in 3+ meetings across the corpus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188720"/>
            <a:ext cx="4069080" cy="18288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88720"/>
            <a:ext cx="40690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188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SENTIMENT-NEGATIVE TOPICS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16276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16276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2.12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2029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2.13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432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communication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2.16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3200400"/>
            <a:ext cx="4069080" cy="123444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3200400"/>
            <a:ext cx="73152" cy="1234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Co-Occurrence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"compliance" + "renewal" appear together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meetings — renewals are entangled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compliance readiness.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02030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managers: what topics dominate external conversations → roadmap signal  |  Eng leads: recurring technical pain topics = infrastructure debt signal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 - MCP Live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Vision: MCP Server Built &amp; 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LIVE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91440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functions → working MCP tools connected to Claude Desktop. 5 tools live, RBAC, audit logging.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6035040" cy="658368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37360"/>
            <a:ext cx="9144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(WORKING)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665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MCP tools live: score_churn_risk, search_meetings, get_sentiment_trends, find_recurring_topics, get_action_items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395728"/>
            <a:ext cx="4572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6035040" cy="658368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91440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511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governance: analyst (full access) vs viewer (read-only)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8437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every call recorded with args, duration, role,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172968"/>
            <a:ext cx="4572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6035040" cy="658368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91840"/>
            <a:ext cx="9144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284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transport: Claude Desktop spawns server via docker exec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6210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singleton: 100 meetings pre-warmed on startup (~1s load)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950208"/>
            <a:ext cx="4572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6035040" cy="658368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69080"/>
            <a:ext cx="91440" cy="658368"/>
          </a:xfrm>
          <a:prstGeom prst="rect">
            <a:avLst/>
          </a:prstGeom>
          <a:solidFill>
            <a:srgbClr val="8EA8C3"/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05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43982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 ↓ (MCP stdio)  FastMCP Server  ↓  5 Tool Functions  ↓  DataStore (pandas)  ↓  100 Meeting JSONs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1737360"/>
            <a:ext cx="2194560" cy="2990088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1737360"/>
            <a:ext cx="2194560" cy="347472"/>
          </a:xfrm>
          <a:prstGeom prst="rect">
            <a:avLst/>
          </a:prstGeom>
          <a:solidFill>
            <a:srgbClr val="1C33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7556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2121408"/>
            <a:ext cx="2103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 extra build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calls in tool layer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pandas aggregation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 unit tests passing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tool outputs match raw data exactly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42245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weeks to full production agentic system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 - MCP Demo Results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/>
          <p:nvPr/>
        </p:nvSpPr>
        <p:spPr>
          <a:xfrm>
            <a:off x="457200" y="270000"/>
            <a:ext cx="822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</a:rPr>
              <a:t>MCP Tools: Live Demo Results</a:t>
            </a:r>
          </a:p>
        </p:txBody>
      </p:sp>
      <!-- Subtitle -->
      <p:sp>
        <p:nvSpPr>
          <p:cNvPr id="3" name="Subtitle"/>
          <p:cNvSpPr/>
          <p:nvPr/>
        </p:nvSpPr>
        <p:spPr>
          <a:xfrm>
            <a:off x="457200" y="840000"/>
            <a:ext cx="82296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B703"/>
                </a:solidFill>
                <a:latin typeface="Calibri" pitchFamily="34" charset="0"/>
              </a:rPr>
              <a:t>All 5 tools called live — results verified against raw data</a:t>
            </a:r>
          </a:p>
        </p:txBody>
      </p:sp>
      <!-- Table header background -->
      <p:sp>
        <p:nvSpPr>
          <p:cNvPr id="4" name="HeaderBg"/>
          <p:cNvSpPr/>
          <p:nvPr/>
        </p:nvSpPr>
        <p:spPr>
          <a:xfrm>
            <a:off x="365760" y="1220000"/>
            <a:ext cx="8412480" cy="370000"/>
          </a:xfrm>
          <a:prstGeom prst="rect">
            <a:avLst/>
          </a:prstGeom>
          <a:solidFill>
            <a:srgbClr val="00B4D8"/>
          </a:solidFill>
          <a:ln/>
        </p:spPr>
      </p:sp>
      <!-- Header text -->
      <p:sp>
        <p:nvSpPr>
          <p:cNvPr id="5" name="HeaderText"/>
          <p:cNvSpPr/>
          <p:nvPr/>
        </p:nvSpPr>
        <p:spPr>
          <a:xfrm>
            <a:off x="365760" y="1220000"/>
            <a:ext cx="8412480" cy="3700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TOOL                                    WHAT IT RETURNS                                  KEY FINDING</a:t>
            </a:r>
          </a:p>
        </p:txBody>
      </p:sp>
      <!-- Row 1 bg -->
      <p:sp>
        <p:nvSpPr>
          <p:cNvPr id="6" name="Row1Bg"/>
          <p:cNvSpPr/>
          <p:nvPr/>
        </p:nvSpPr>
        <p:spPr>
          <a:xfrm>
            <a:off x="365760" y="1590000"/>
            <a:ext cx="8412480" cy="340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</a:ln>
        </p:spPr>
      </p:sp>
      <p:sp>
        <p:nvSpPr>
          <p:cNvPr id="7" name="Row1Text"/>
          <p:cNvSpPr/>
          <p:nvPr/>
        </p:nvSpPr>
        <p:spPr>
          <a:xfrm>
            <a:off x="457200" y="1590000"/>
            <a:ext cx="81381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</a:rPr>
              <a:t>score_churn_risk     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</a:rPr>
              <a:t>Top accounts by risk score      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12 Critical; Northstar Pharma 100/100</a:t>
            </a:r>
          </a:p>
        </p:txBody>
      </p:sp>
      <!-- Row 2 bg -->
      <p:sp>
        <p:nvSpPr>
          <p:cNvPr id="8" name="Row2Bg"/>
          <p:cNvSpPr/>
          <p:nvPr/>
        </p:nvSpPr>
        <p:spPr>
          <a:xfrm>
            <a:off x="365760" y="1930000"/>
            <a:ext cx="8412480" cy="340000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</a:ln>
        </p:spPr>
      </p:sp>
      <p:sp>
        <p:nvSpPr>
          <p:cNvPr id="9" name="Row2Text"/>
          <p:cNvSpPr/>
          <p:nvPr/>
        </p:nvSpPr>
        <p:spPr>
          <a:xfrm>
            <a:off x="457200" y="1930000"/>
            <a:ext cx="81381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</a:rPr>
              <a:t>search_meetings          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</a:rPr>
              <a:t>Keyword search across 100 meetings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“compliance” hits 65/100 meetings</a:t>
            </a:r>
          </a:p>
        </p:txBody>
      </p:sp>
      <!-- Row 3 bg -->
      <p:sp>
        <p:nvSpPr>
          <p:cNvPr id="10" name="Row3Bg"/>
          <p:cNvSpPr/>
          <p:nvPr/>
        </p:nvSpPr>
        <p:spPr>
          <a:xfrm>
            <a:off x="365760" y="2270000"/>
            <a:ext cx="8412480" cy="340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</a:ln>
        </p:spPr>
      </p:sp>
      <p:sp>
        <p:nvSpPr>
          <p:cNvPr id="11" name="Row3Text"/>
          <p:cNvSpPr/>
          <p:nvPr/>
        </p:nvSpPr>
        <p:spPr>
          <a:xfrm>
            <a:off x="457200" y="2270000"/>
            <a:ext cx="81381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</a:rPr>
              <a:t>get_sentiment_trends  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</a:rPr>
              <a:t>Avg sentiment by call type / week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Support avg 2.94 vs External 3.68</a:t>
            </a:r>
          </a:p>
        </p:txBody>
      </p:sp>
      <!-- Row 4 bg -->
      <p:sp>
        <p:nvSpPr>
          <p:cNvPr id="12" name="Row4Bg"/>
          <p:cNvSpPr/>
          <p:nvPr/>
        </p:nvSpPr>
        <p:spPr>
          <a:xfrm>
            <a:off x="365760" y="2610000"/>
            <a:ext cx="8412480" cy="340000"/>
          </a:xfrm>
          <a:prstGeom prst="rect">
            <a:avLst/>
          </a:prstGeom>
          <a:solidFill>
            <a:srgbClr val="0A2238"/>
          </a:solidFill>
          <a:ln w="9525">
            <a:solidFill>
              <a:srgbClr val="00B4D8"/>
            </a:solidFill>
          </a:ln>
        </p:spPr>
      </p:sp>
      <p:sp>
        <p:nvSpPr>
          <p:cNvPr id="13" name="Row4Text"/>
          <p:cNvSpPr/>
          <p:nvPr/>
        </p:nvSpPr>
        <p:spPr>
          <a:xfrm>
            <a:off x="457200" y="2610000"/>
            <a:ext cx="81381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</a:rPr>
              <a:t>find_recurring_topics  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</a:rPr>
              <a:t>Topics appearing in 3+ meetings  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47 recurring; “churn risk” avg sentiment 2.12</a:t>
            </a:r>
          </a:p>
        </p:txBody>
      </p:sp>
      <!-- Row 5 bg -->
      <p:sp>
        <p:nvSpPr>
          <p:cNvPr id="14" name="Row5Bg"/>
          <p:cNvSpPr/>
          <p:nvPr/>
        </p:nvSpPr>
        <p:spPr>
          <a:xfrm>
            <a:off x="365760" y="2950000"/>
            <a:ext cx="8412480" cy="340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</a:ln>
        </p:spPr>
      </p:sp>
      <p:sp>
        <p:nvSpPr>
          <p:cNvPr id="15" name="Row5Text"/>
          <p:cNvSpPr/>
          <p:nvPr/>
        </p:nvSpPr>
        <p:spPr>
          <a:xfrm>
            <a:off x="457200" y="2950000"/>
            <a:ext cx="81381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</a:rPr>
              <a:t>get_action_items          </a:t>
            </a:r>
            <a:r>
              <a:rPr lang="en-US" sz="1100" dirty="0">
                <a:solidFill>
                  <a:srgbClr val="8EA8C3"/>
                </a:solidFill>
                <a:latin typeface="Calibri" pitchFamily="34" charset="0"/>
              </a:rPr>
              <a:t>Action items by owner / keyword  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Maria Santos owns 31 of 397 items</a:t>
            </a:r>
          </a:p>
        </p:txBody>
      </p:sp>
      <!-- Bottom banner -->
      <p:sp>
        <p:nvSpPr>
          <p:cNvPr id="16" name="BannerBg"/>
          <p:cNvSpPr/>
          <p:nvPr/>
        </p:nvSpPr>
        <p:spPr>
          <a:xfrm>
            <a:off x="365760" y="4560000"/>
            <a:ext cx="8412480" cy="420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BannerText"/>
          <p:cNvSpPr/>
          <p:nvPr/>
        </p:nvSpPr>
        <p:spPr>
          <a:xfrm>
            <a:off x="365760" y="4560000"/>
            <a:ext cx="8412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</a:rPr>
              <a:t>Verified: raw DataFrame numbers match tool outputs exactly. 25/25 unit tests passing.</a:t>
            </a:r>
          </a:p>
        </p:txBody>
      </p:sp>
      <!-- Chip label -->
      <p:sp>
        <p:nvSpPr>
          <p:cNvPr id="18" name="ChipBg"/>
          <p:cNvSpPr/>
          <p:nvPr/>
        </p:nvSpPr>
        <p:spPr>
          <a:xfrm>
            <a:off x="457200" y="5011200"/>
            <a:ext cx="128016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ChipText"/>
          <p:cNvSpPr/>
          <p:nvPr/>
        </p:nvSpPr>
        <p:spPr>
          <a:xfrm>
            <a:off x="457200" y="5011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</a:rPr>
              <a:t>MCP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 - Limitations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&amp;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29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ground truth for categorization accuracy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churn scoring — no actual churn outcomes to train 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Single-document analysis — no customer journey threading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dependency — quality follows upstream summarizer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06240" cy="3429000"/>
          </a:xfrm>
          <a:prstGeom prst="rect">
            <a:avLst/>
          </a:prstGeom>
          <a:solidFill>
            <a:srgbClr val="1A2F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241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BUILD 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508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eval 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7099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30 meetings; track categorization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07568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075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threading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2768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meetings by account across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64261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6426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 prototype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8437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“show me churn risk” end-to-end in Claude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20954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2095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 framework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4107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+ safety + citation checks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7647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7764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transport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9776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stdio for HTTP so multiple clients can connect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26864"/>
            <a:ext cx="8412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26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foundation is live. Path to full production agentic system: ~3 weeks from here (down from 5)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 Intelligence</dc:title>
  <dc:subject>PptxGenJS Presentation</dc:subject>
  <dc:creator>Applied AI Developer</dc:creator>
  <cp:lastModifiedBy>Applied AI Developer</cp:lastModifiedBy>
  <cp:revision>1</cp:revision>
  <dcterms:created xsi:type="dcterms:W3CDTF">2026-05-24T03:05:38Z</dcterms:created>
  <dcterms:modified xsi:type="dcterms:W3CDTF">2026-05-24T03:05:38Z</dcterms:modified>
</cp:coreProperties>
</file>